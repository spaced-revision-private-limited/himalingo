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g"/>
  <Default Extension="png" ContentType="image/png"/>
  <Default Extension="gif" ContentType="image/gif"/>
  <Override PartName="/docProps/app.xml" ContentType="application/vnd.openxmlformats-officedocument.extended-properties+xml"/>
  <Override PartName="/ppt/theme/theme1.xml" ContentType="application/vnd.openxmlformats-officedocument.theme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9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6/13/2013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�#�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0"/>
            <a:ext cx="9144000" cy="80000"/>
          </a:xfrm>
          <a:prstGeom prst="rect">
            <a:avLst/>
          </a:prstGeom>
          <a:solidFill>
            <a:srgbClr val="5B4FCF"/>
          </a:solidFill>
        </p:spPr>
      </p:sp>
      <p:sp>
        <p:nvSpPr>
          <p:cNvPr id="3" name="Object 3"/>
          <p:cNvSpPr txBox="1"/>
          <p:nvPr/>
        </p:nvSpPr>
        <p:spPr>
          <a:xfrm>
            <a:off x="731520" y="1920240"/>
            <a:ext cx="7680960" cy="8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40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Himalingo</a:t>
            </a:r>
            <a:endParaRPr lang="en-US" sz="4000" dirty="0"/>
          </a:p>
        </p:txBody>
      </p:sp>
      <p:sp>
        <p:nvSpPr>
          <p:cNvPr id="4" name="Object 4"/>
          <p:cNvSpPr txBox="1"/>
          <p:nvPr/>
        </p:nvSpPr>
        <p:spPr>
          <a:xfrm>
            <a:off x="731520" y="3566160"/>
            <a:ext cx="7680960" cy="4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2000" dirty="0" smtClean="0">
                <a:solidFill>
                  <a:srgbClr val="E8E4FF"/>
                </a:solidFill>
                <a:latin typeface="Calibri" pitchFamily="34" charset="0"/>
                <a:cs typeface="Calibri" pitchFamily="34" charset="0"/>
              </a:rPr>
              <a:t>Bhutia Language Translation &amp; Learning App</a:t>
            </a:r>
            <a:endParaRPr lang="en-US" sz="2000" dirty="0"/>
          </a:p>
        </p:txBody>
      </p:sp>
      <p:sp>
        <p:nvSpPr>
          <p:cNvPr id="5" name="Object 5"/>
          <p:cNvSpPr txBox="1"/>
          <p:nvPr/>
        </p:nvSpPr>
        <p:spPr>
          <a:xfrm>
            <a:off x="731520" y="4320540"/>
            <a:ext cx="7680960" cy="3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500" dirty="0" smtClean="0">
                <a:solidFill>
                  <a:srgbClr val="A09CB8"/>
                </a:solidFill>
                <a:latin typeface="Calibri" pitchFamily="34" charset="0"/>
                <a:cs typeface="Calibri" pitchFamily="34" charset="0"/>
              </a:rPr>
              <a:t>Anita Gurung  •  Full Stack Developer Intern  •  SpacedRevision</a:t>
            </a:r>
            <a:endParaRPr lang="en-US" sz="1500" dirty="0"/>
          </a:p>
        </p:txBody>
      </p:sp>
      <p:sp>
        <p:nvSpPr>
          <p:cNvPr id="6" name="Object 6"/>
          <p:cNvSpPr txBox="1"/>
          <p:nvPr/>
        </p:nvSpPr>
        <p:spPr>
          <a:xfrm>
            <a:off x="0" y="6377940"/>
            <a:ext cx="9144000" cy="80000"/>
          </a:xfrm>
          <a:prstGeom prst="rect">
            <a:avLst/>
          </a:prstGeom>
          <a:solidFill>
            <a:srgbClr val="5B4FCF"/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0"/>
            <a:ext cx="9144000" cy="80000"/>
          </a:xfrm>
          <a:prstGeom prst="rect">
            <a:avLst/>
          </a:prstGeom>
          <a:solidFill>
            <a:srgbClr val="5B4FCF"/>
          </a:solidFill>
        </p:spPr>
      </p:sp>
      <p:sp>
        <p:nvSpPr>
          <p:cNvPr id="3" name="Object 3"/>
          <p:cNvSpPr txBox="1"/>
          <p:nvPr/>
        </p:nvSpPr>
        <p:spPr>
          <a:xfrm>
            <a:off x="0" y="100000"/>
            <a:ext cx="9144000" cy="600000"/>
          </a:xfrm>
          <a:prstGeom prst="rect">
            <a:avLst/>
          </a:prstGeom>
          <a:solidFill>
            <a:srgbClr val="2A2545"/>
          </a:solidFill>
        </p:spPr>
      </p:sp>
      <p:sp>
        <p:nvSpPr>
          <p:cNvPr id="4" name="Object 4"/>
          <p:cNvSpPr txBox="1"/>
          <p:nvPr/>
        </p:nvSpPr>
        <p:spPr>
          <a:xfrm>
            <a:off x="365760" y="150000"/>
            <a:ext cx="8412480" cy="5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24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Introduction</a:t>
            </a:r>
            <a:endParaRPr lang="en-US" sz="2400" dirty="0"/>
          </a:p>
        </p:txBody>
      </p:sp>
      <p:sp>
        <p:nvSpPr>
          <p:cNvPr id="5" name="Object 5"/>
          <p:cNvSpPr txBox="1"/>
          <p:nvPr/>
        </p:nvSpPr>
        <p:spPr>
          <a:xfrm>
            <a:off x="365760" y="900000"/>
            <a:ext cx="8412480" cy="28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500" b="1" dirty="0" smtClean="0">
                <a:solidFill>
                  <a:srgbClr val="E8E4FF"/>
                </a:solidFill>
                <a:latin typeface="Calibri" pitchFamily="34" charset="0"/>
                <a:cs typeface="Calibri" pitchFamily="34" charset="0"/>
              </a:rPr>
              <a:t>▸  What is Himalingo?</a:t>
            </a:r>
            <a:endParaRPr lang="en-US" sz="1500" dirty="0"/>
          </a:p>
        </p:txBody>
      </p:sp>
      <p:sp>
        <p:nvSpPr>
          <p:cNvPr id="6" name="Object 6"/>
          <p:cNvSpPr txBox="1"/>
          <p:nvPr/>
        </p:nvSpPr>
        <p:spPr>
          <a:xfrm>
            <a:off x="640080" y="1240000"/>
            <a:ext cx="8046720" cy="26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•  A web application for translating English to Bhutia (Sikkimese)</a:t>
            </a:r>
            <a:endParaRPr lang="en-US" sz="1300" dirty="0"/>
          </a:p>
        </p:txBody>
      </p:sp>
      <p:sp>
        <p:nvSpPr>
          <p:cNvPr id="7" name="Object 7"/>
          <p:cNvSpPr txBox="1"/>
          <p:nvPr/>
        </p:nvSpPr>
        <p:spPr>
          <a:xfrm>
            <a:off x="640080" y="1540000"/>
            <a:ext cx="8046720" cy="26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•  Supports both translation mode and conversational chat mode</a:t>
            </a:r>
            <a:endParaRPr lang="en-US" sz="1300" dirty="0"/>
          </a:p>
        </p:txBody>
      </p:sp>
      <p:sp>
        <p:nvSpPr>
          <p:cNvPr id="8" name="Object 8"/>
          <p:cNvSpPr txBox="1"/>
          <p:nvPr/>
        </p:nvSpPr>
        <p:spPr>
          <a:xfrm>
            <a:off x="640080" y="1840000"/>
            <a:ext cx="8046720" cy="26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•  Built from scratch during a Full Stack Developer internship at SpacedRevision</a:t>
            </a:r>
            <a:endParaRPr lang="en-US" sz="1300" dirty="0"/>
          </a:p>
        </p:txBody>
      </p:sp>
      <p:sp>
        <p:nvSpPr>
          <p:cNvPr id="9" name="Object 9"/>
          <p:cNvSpPr txBox="1"/>
          <p:nvPr/>
        </p:nvSpPr>
        <p:spPr>
          <a:xfrm>
            <a:off x="365760" y="2140000"/>
            <a:ext cx="8412480" cy="28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500" b="1" dirty="0" smtClean="0">
                <a:solidFill>
                  <a:srgbClr val="E8E4FF"/>
                </a:solidFill>
                <a:latin typeface="Calibri" pitchFamily="34" charset="0"/>
                <a:cs typeface="Calibri" pitchFamily="34" charset="0"/>
              </a:rPr>
              <a:t>▸  Who is it for?</a:t>
            </a:r>
            <a:endParaRPr lang="en-US" sz="1500" dirty="0"/>
          </a:p>
        </p:txBody>
      </p:sp>
      <p:sp>
        <p:nvSpPr>
          <p:cNvPr id="10" name="Object 10"/>
          <p:cNvSpPr txBox="1"/>
          <p:nvPr/>
        </p:nvSpPr>
        <p:spPr>
          <a:xfrm>
            <a:off x="640080" y="2480000"/>
            <a:ext cx="8046720" cy="26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•  People learning or preserving the Bhutia language</a:t>
            </a:r>
            <a:endParaRPr lang="en-US" sz="1300" dirty="0"/>
          </a:p>
        </p:txBody>
      </p:sp>
      <p:sp>
        <p:nvSpPr>
          <p:cNvPr id="11" name="Object 11"/>
          <p:cNvSpPr txBox="1"/>
          <p:nvPr/>
        </p:nvSpPr>
        <p:spPr>
          <a:xfrm>
            <a:off x="640080" y="2780000"/>
            <a:ext cx="8046720" cy="26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•  Speakers of Sikkimese communities who want a digital tool for their language</a:t>
            </a:r>
            <a:endParaRPr lang="en-US" sz="1300" dirty="0"/>
          </a:p>
        </p:txBody>
      </p:sp>
      <p:sp>
        <p:nvSpPr>
          <p:cNvPr id="12" name="Object 12"/>
          <p:cNvSpPr txBox="1"/>
          <p:nvPr/>
        </p:nvSpPr>
        <p:spPr>
          <a:xfrm>
            <a:off x="0" y="6377940"/>
            <a:ext cx="9144000" cy="80000"/>
          </a:xfrm>
          <a:prstGeom prst="rect">
            <a:avLst/>
          </a:prstGeom>
          <a:solidFill>
            <a:srgbClr val="5B4FCF"/>
          </a:solid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0"/>
            <a:ext cx="9144000" cy="80000"/>
          </a:xfrm>
          <a:prstGeom prst="rect">
            <a:avLst/>
          </a:prstGeom>
          <a:solidFill>
            <a:srgbClr val="5B4FCF"/>
          </a:solidFill>
        </p:spPr>
      </p:sp>
      <p:sp>
        <p:nvSpPr>
          <p:cNvPr id="3" name="Object 3"/>
          <p:cNvSpPr txBox="1"/>
          <p:nvPr/>
        </p:nvSpPr>
        <p:spPr>
          <a:xfrm>
            <a:off x="0" y="100000"/>
            <a:ext cx="9144000" cy="600000"/>
          </a:xfrm>
          <a:prstGeom prst="rect">
            <a:avLst/>
          </a:prstGeom>
          <a:solidFill>
            <a:srgbClr val="2A2545"/>
          </a:solidFill>
        </p:spPr>
      </p:sp>
      <p:sp>
        <p:nvSpPr>
          <p:cNvPr id="4" name="Object 4"/>
          <p:cNvSpPr txBox="1"/>
          <p:nvPr/>
        </p:nvSpPr>
        <p:spPr>
          <a:xfrm>
            <a:off x="365760" y="150000"/>
            <a:ext cx="8412480" cy="5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24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Problem It Solves</a:t>
            </a:r>
            <a:endParaRPr lang="en-US" sz="2400" dirty="0"/>
          </a:p>
        </p:txBody>
      </p:sp>
      <p:sp>
        <p:nvSpPr>
          <p:cNvPr id="5" name="Object 5"/>
          <p:cNvSpPr txBox="1"/>
          <p:nvPr/>
        </p:nvSpPr>
        <p:spPr>
          <a:xfrm>
            <a:off x="365760" y="900000"/>
            <a:ext cx="8412480" cy="28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500" b="1" dirty="0" smtClean="0">
                <a:solidFill>
                  <a:srgbClr val="E8E4FF"/>
                </a:solidFill>
                <a:latin typeface="Calibri" pitchFamily="34" charset="0"/>
                <a:cs typeface="Calibri" pitchFamily="34" charset="0"/>
              </a:rPr>
              <a:t>▸  The Challenge</a:t>
            </a:r>
            <a:endParaRPr lang="en-US" sz="1500" dirty="0"/>
          </a:p>
        </p:txBody>
      </p:sp>
      <p:sp>
        <p:nvSpPr>
          <p:cNvPr id="6" name="Object 6"/>
          <p:cNvSpPr txBox="1"/>
          <p:nvPr/>
        </p:nvSpPr>
        <p:spPr>
          <a:xfrm>
            <a:off x="640080" y="1240000"/>
            <a:ext cx="8046720" cy="26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•  Bhutia is a low-resource language — very little digital support exists</a:t>
            </a:r>
            <a:endParaRPr lang="en-US" sz="1300" dirty="0"/>
          </a:p>
        </p:txBody>
      </p:sp>
      <p:sp>
        <p:nvSpPr>
          <p:cNvPr id="7" name="Object 7"/>
          <p:cNvSpPr txBox="1"/>
          <p:nvPr/>
        </p:nvSpPr>
        <p:spPr>
          <a:xfrm>
            <a:off x="640080" y="1540000"/>
            <a:ext cx="8046720" cy="26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•  No widely available translation tools for English → Bhutia</a:t>
            </a:r>
            <a:endParaRPr lang="en-US" sz="1300" dirty="0"/>
          </a:p>
        </p:txBody>
      </p:sp>
      <p:sp>
        <p:nvSpPr>
          <p:cNvPr id="8" name="Object 8"/>
          <p:cNvSpPr txBox="1"/>
          <p:nvPr/>
        </p:nvSpPr>
        <p:spPr>
          <a:xfrm>
            <a:off x="640080" y="1840000"/>
            <a:ext cx="8046720" cy="26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•  Risk of the language fading without accessible learning tools</a:t>
            </a:r>
            <a:endParaRPr lang="en-US" sz="1300" dirty="0"/>
          </a:p>
        </p:txBody>
      </p:sp>
      <p:sp>
        <p:nvSpPr>
          <p:cNvPr id="9" name="Object 9"/>
          <p:cNvSpPr txBox="1"/>
          <p:nvPr/>
        </p:nvSpPr>
        <p:spPr>
          <a:xfrm>
            <a:off x="365760" y="2140000"/>
            <a:ext cx="8412480" cy="28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500" b="1" dirty="0" smtClean="0">
                <a:solidFill>
                  <a:srgbClr val="E8E4FF"/>
                </a:solidFill>
                <a:latin typeface="Calibri" pitchFamily="34" charset="0"/>
                <a:cs typeface="Calibri" pitchFamily="34" charset="0"/>
              </a:rPr>
              <a:t>▸  Our Solution</a:t>
            </a:r>
            <a:endParaRPr lang="en-US" sz="1500" dirty="0"/>
          </a:p>
        </p:txBody>
      </p:sp>
      <p:sp>
        <p:nvSpPr>
          <p:cNvPr id="10" name="Object 10"/>
          <p:cNvSpPr txBox="1"/>
          <p:nvPr/>
        </p:nvSpPr>
        <p:spPr>
          <a:xfrm>
            <a:off x="640080" y="2480000"/>
            <a:ext cx="8046720" cy="26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•  AI-powered translation grounded in a verified Bhutia dictionary</a:t>
            </a:r>
            <a:endParaRPr lang="en-US" sz="1300" dirty="0"/>
          </a:p>
        </p:txBody>
      </p:sp>
      <p:sp>
        <p:nvSpPr>
          <p:cNvPr id="11" name="Object 11"/>
          <p:cNvSpPr txBox="1"/>
          <p:nvPr/>
        </p:nvSpPr>
        <p:spPr>
          <a:xfrm>
            <a:off x="640080" y="2780000"/>
            <a:ext cx="8046720" cy="26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•  Chat interface so users can ask questions naturally</a:t>
            </a:r>
            <a:endParaRPr lang="en-US" sz="1300" dirty="0"/>
          </a:p>
        </p:txBody>
      </p:sp>
      <p:sp>
        <p:nvSpPr>
          <p:cNvPr id="12" name="Object 12"/>
          <p:cNvSpPr txBox="1"/>
          <p:nvPr/>
        </p:nvSpPr>
        <p:spPr>
          <a:xfrm>
            <a:off x="640080" y="3080000"/>
            <a:ext cx="8046720" cy="26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•  Voice input support — type or speak your query</a:t>
            </a:r>
            <a:endParaRPr lang="en-US" sz="1300" dirty="0"/>
          </a:p>
        </p:txBody>
      </p:sp>
      <p:sp>
        <p:nvSpPr>
          <p:cNvPr id="13" name="Object 13"/>
          <p:cNvSpPr txBox="1"/>
          <p:nvPr/>
        </p:nvSpPr>
        <p:spPr>
          <a:xfrm>
            <a:off x="0" y="6377940"/>
            <a:ext cx="9144000" cy="80000"/>
          </a:xfrm>
          <a:prstGeom prst="rect">
            <a:avLst/>
          </a:prstGeom>
          <a:solidFill>
            <a:srgbClr val="5B4FCF"/>
          </a:solid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0"/>
            <a:ext cx="9144000" cy="80000"/>
          </a:xfrm>
          <a:prstGeom prst="rect">
            <a:avLst/>
          </a:prstGeom>
          <a:solidFill>
            <a:srgbClr val="5B4FCF"/>
          </a:solidFill>
        </p:spPr>
      </p:sp>
      <p:sp>
        <p:nvSpPr>
          <p:cNvPr id="3" name="Object 3"/>
          <p:cNvSpPr txBox="1"/>
          <p:nvPr/>
        </p:nvSpPr>
        <p:spPr>
          <a:xfrm>
            <a:off x="0" y="100000"/>
            <a:ext cx="9144000" cy="600000"/>
          </a:xfrm>
          <a:prstGeom prst="rect">
            <a:avLst/>
          </a:prstGeom>
          <a:solidFill>
            <a:srgbClr val="2A2545"/>
          </a:solidFill>
        </p:spPr>
      </p:sp>
      <p:sp>
        <p:nvSpPr>
          <p:cNvPr id="4" name="Object 4"/>
          <p:cNvSpPr txBox="1"/>
          <p:nvPr/>
        </p:nvSpPr>
        <p:spPr>
          <a:xfrm>
            <a:off x="365760" y="150000"/>
            <a:ext cx="8412480" cy="5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24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Tech Stack Overview</a:t>
            </a:r>
            <a:endParaRPr lang="en-US" sz="2400" dirty="0"/>
          </a:p>
        </p:txBody>
      </p:sp>
      <p:sp>
        <p:nvSpPr>
          <p:cNvPr id="5" name="Object 5"/>
          <p:cNvSpPr txBox="1"/>
          <p:nvPr/>
        </p:nvSpPr>
        <p:spPr>
          <a:xfrm>
            <a:off x="365760" y="900000"/>
            <a:ext cx="8412480" cy="28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500" b="1" dirty="0" smtClean="0">
                <a:solidFill>
                  <a:srgbClr val="E8E4FF"/>
                </a:solidFill>
                <a:latin typeface="Calibri" pitchFamily="34" charset="0"/>
                <a:cs typeface="Calibri" pitchFamily="34" charset="0"/>
              </a:rPr>
              <a:t>▸  Frontend</a:t>
            </a:r>
            <a:endParaRPr lang="en-US" sz="1500" dirty="0"/>
          </a:p>
        </p:txBody>
      </p:sp>
      <p:sp>
        <p:nvSpPr>
          <p:cNvPr id="6" name="Object 6"/>
          <p:cNvSpPr txBox="1"/>
          <p:nvPr/>
        </p:nvSpPr>
        <p:spPr>
          <a:xfrm>
            <a:off x="457200" y="1240000"/>
            <a:ext cx="8229600" cy="28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dirty="0" smtClean="0"/>
              <a:t>Framework:  </a:t>
            </a:r>
            <a:r>
              <a:rPr lang="en-US" dirty="0" smtClean="0"/>
              <a:t>React.js + Next.js</a:t>
            </a:r>
            <a:endParaRPr lang="en-US" dirty="0"/>
          </a:p>
        </p:txBody>
      </p:sp>
      <p:sp>
        <p:nvSpPr>
          <p:cNvPr id="7" name="Object 7"/>
          <p:cNvSpPr txBox="1"/>
          <p:nvPr/>
        </p:nvSpPr>
        <p:spPr>
          <a:xfrm>
            <a:off x="457200" y="1580000"/>
            <a:ext cx="8229600" cy="28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dirty="0" smtClean="0"/>
              <a:t>State:  </a:t>
            </a:r>
            <a:r>
              <a:rPr lang="en-US" dirty="0" smtClean="0"/>
              <a:t>Redux Toolkit</a:t>
            </a:r>
            <a:endParaRPr lang="en-US" dirty="0"/>
          </a:p>
        </p:txBody>
      </p:sp>
      <p:sp>
        <p:nvSpPr>
          <p:cNvPr id="8" name="Object 8"/>
          <p:cNvSpPr txBox="1"/>
          <p:nvPr/>
        </p:nvSpPr>
        <p:spPr>
          <a:xfrm>
            <a:off x="457200" y="1920000"/>
            <a:ext cx="8229600" cy="28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dirty="0" smtClean="0"/>
              <a:t>Styling:  </a:t>
            </a:r>
            <a:r>
              <a:rPr lang="en-US" dirty="0" smtClean="0"/>
              <a:t>Tailwind CSS</a:t>
            </a:r>
            <a:endParaRPr lang="en-US" dirty="0"/>
          </a:p>
        </p:txBody>
      </p:sp>
      <p:sp>
        <p:nvSpPr>
          <p:cNvPr id="9" name="Object 9"/>
          <p:cNvSpPr txBox="1"/>
          <p:nvPr/>
        </p:nvSpPr>
        <p:spPr>
          <a:xfrm>
            <a:off x="365760" y="2260000"/>
            <a:ext cx="8412480" cy="28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500" b="1" dirty="0" smtClean="0">
                <a:solidFill>
                  <a:srgbClr val="E8E4FF"/>
                </a:solidFill>
                <a:latin typeface="Calibri" pitchFamily="34" charset="0"/>
                <a:cs typeface="Calibri" pitchFamily="34" charset="0"/>
              </a:rPr>
              <a:t>▸  Backend</a:t>
            </a:r>
            <a:endParaRPr lang="en-US" sz="1500" dirty="0"/>
          </a:p>
        </p:txBody>
      </p:sp>
      <p:sp>
        <p:nvSpPr>
          <p:cNvPr id="10" name="Object 10"/>
          <p:cNvSpPr txBox="1"/>
          <p:nvPr/>
        </p:nvSpPr>
        <p:spPr>
          <a:xfrm>
            <a:off x="457200" y="2600000"/>
            <a:ext cx="8229600" cy="28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dirty="0" smtClean="0"/>
              <a:t>Runtime:  </a:t>
            </a:r>
            <a:r>
              <a:rPr lang="en-US" dirty="0" smtClean="0"/>
              <a:t>Node.js + Express.js</a:t>
            </a:r>
            <a:endParaRPr lang="en-US" dirty="0"/>
          </a:p>
        </p:txBody>
      </p:sp>
      <p:sp>
        <p:nvSpPr>
          <p:cNvPr id="11" name="Object 11"/>
          <p:cNvSpPr txBox="1"/>
          <p:nvPr/>
        </p:nvSpPr>
        <p:spPr>
          <a:xfrm>
            <a:off x="457200" y="2940000"/>
            <a:ext cx="8229600" cy="28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dirty="0" smtClean="0"/>
              <a:t>Database:  </a:t>
            </a:r>
            <a:r>
              <a:rPr lang="en-US" dirty="0" smtClean="0"/>
              <a:t>MongoDB with Mongoose ODM</a:t>
            </a:r>
            <a:endParaRPr lang="en-US" dirty="0"/>
          </a:p>
        </p:txBody>
      </p:sp>
      <p:sp>
        <p:nvSpPr>
          <p:cNvPr id="12" name="Object 12"/>
          <p:cNvSpPr txBox="1"/>
          <p:nvPr/>
        </p:nvSpPr>
        <p:spPr>
          <a:xfrm>
            <a:off x="365760" y="3280000"/>
            <a:ext cx="8412480" cy="28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500" b="1" dirty="0" smtClean="0">
                <a:solidFill>
                  <a:srgbClr val="E8E4FF"/>
                </a:solidFill>
                <a:latin typeface="Calibri" pitchFamily="34" charset="0"/>
                <a:cs typeface="Calibri" pitchFamily="34" charset="0"/>
              </a:rPr>
              <a:t>▸  DevOps</a:t>
            </a:r>
            <a:endParaRPr lang="en-US" sz="1500" dirty="0"/>
          </a:p>
        </p:txBody>
      </p:sp>
      <p:sp>
        <p:nvSpPr>
          <p:cNvPr id="13" name="Object 13"/>
          <p:cNvSpPr txBox="1"/>
          <p:nvPr/>
        </p:nvSpPr>
        <p:spPr>
          <a:xfrm>
            <a:off x="457200" y="3620000"/>
            <a:ext cx="8229600" cy="28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dirty="0" smtClean="0"/>
              <a:t>Tools:  </a:t>
            </a:r>
            <a:r>
              <a:rPr lang="en-US" dirty="0" smtClean="0"/>
              <a:t>Docker, GitHub Actions, Nginx</a:t>
            </a:r>
            <a:endParaRPr lang="en-US" dirty="0"/>
          </a:p>
        </p:txBody>
      </p:sp>
      <p:sp>
        <p:nvSpPr>
          <p:cNvPr id="14" name="Object 14"/>
          <p:cNvSpPr txBox="1"/>
          <p:nvPr/>
        </p:nvSpPr>
        <p:spPr>
          <a:xfrm>
            <a:off x="0" y="6377940"/>
            <a:ext cx="9144000" cy="80000"/>
          </a:xfrm>
          <a:prstGeom prst="rect">
            <a:avLst/>
          </a:prstGeom>
          <a:solidFill>
            <a:srgbClr val="5B4FCF"/>
          </a:solid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0"/>
            <a:ext cx="9144000" cy="80000"/>
          </a:xfrm>
          <a:prstGeom prst="rect">
            <a:avLst/>
          </a:prstGeom>
          <a:solidFill>
            <a:srgbClr val="5B4FCF"/>
          </a:solidFill>
        </p:spPr>
      </p:sp>
      <p:sp>
        <p:nvSpPr>
          <p:cNvPr id="3" name="Object 3"/>
          <p:cNvSpPr txBox="1"/>
          <p:nvPr/>
        </p:nvSpPr>
        <p:spPr>
          <a:xfrm>
            <a:off x="0" y="100000"/>
            <a:ext cx="9144000" cy="600000"/>
          </a:xfrm>
          <a:prstGeom prst="rect">
            <a:avLst/>
          </a:prstGeom>
          <a:solidFill>
            <a:srgbClr val="2A2545"/>
          </a:solidFill>
        </p:spPr>
      </p:sp>
      <p:sp>
        <p:nvSpPr>
          <p:cNvPr id="4" name="Object 4"/>
          <p:cNvSpPr txBox="1"/>
          <p:nvPr/>
        </p:nvSpPr>
        <p:spPr>
          <a:xfrm>
            <a:off x="365760" y="150000"/>
            <a:ext cx="8412480" cy="5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24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Authentication System</a:t>
            </a:r>
            <a:endParaRPr lang="en-US" sz="2400" dirty="0"/>
          </a:p>
        </p:txBody>
      </p:sp>
      <p:sp>
        <p:nvSpPr>
          <p:cNvPr id="5" name="Object 5"/>
          <p:cNvSpPr txBox="1"/>
          <p:nvPr/>
        </p:nvSpPr>
        <p:spPr>
          <a:xfrm>
            <a:off x="365760" y="900000"/>
            <a:ext cx="8412480" cy="28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500" b="1" dirty="0" smtClean="0">
                <a:solidFill>
                  <a:srgbClr val="E8E4FF"/>
                </a:solidFill>
                <a:latin typeface="Calibri" pitchFamily="34" charset="0"/>
                <a:cs typeface="Calibri" pitchFamily="34" charset="0"/>
              </a:rPr>
              <a:t>▸  How it works</a:t>
            </a:r>
            <a:endParaRPr lang="en-US" sz="1500" dirty="0"/>
          </a:p>
        </p:txBody>
      </p:sp>
      <p:sp>
        <p:nvSpPr>
          <p:cNvPr id="6" name="Object 6"/>
          <p:cNvSpPr txBox="1"/>
          <p:nvPr/>
        </p:nvSpPr>
        <p:spPr>
          <a:xfrm>
            <a:off x="640080" y="1240000"/>
            <a:ext cx="8046720" cy="26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•  User signs up or logs in via email and password</a:t>
            </a:r>
            <a:endParaRPr lang="en-US" sz="1300" dirty="0"/>
          </a:p>
        </p:txBody>
      </p:sp>
      <p:sp>
        <p:nvSpPr>
          <p:cNvPr id="7" name="Object 7"/>
          <p:cNvSpPr txBox="1"/>
          <p:nvPr/>
        </p:nvSpPr>
        <p:spPr>
          <a:xfrm>
            <a:off x="640080" y="1540000"/>
            <a:ext cx="8046720" cy="26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•  Password hashed with bcryptjs before storing in MongoDB</a:t>
            </a:r>
            <a:endParaRPr lang="en-US" sz="1300" dirty="0"/>
          </a:p>
        </p:txBody>
      </p:sp>
      <p:sp>
        <p:nvSpPr>
          <p:cNvPr id="8" name="Object 8"/>
          <p:cNvSpPr txBox="1"/>
          <p:nvPr/>
        </p:nvSpPr>
        <p:spPr>
          <a:xfrm>
            <a:off x="640080" y="1840000"/>
            <a:ext cx="8046720" cy="26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•  On login — two tokens are issued:</a:t>
            </a:r>
            <a:endParaRPr lang="en-US" sz="1300" dirty="0"/>
          </a:p>
        </p:txBody>
      </p:sp>
      <p:sp>
        <p:nvSpPr>
          <p:cNvPr id="9" name="Object 9"/>
          <p:cNvSpPr txBox="1"/>
          <p:nvPr/>
        </p:nvSpPr>
        <p:spPr>
          <a:xfrm>
            <a:off x="457200" y="2140000"/>
            <a:ext cx="8229600" cy="28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dirty="0" smtClean="0"/>
              <a:t>Access Token:  </a:t>
            </a:r>
            <a:r>
              <a:rPr lang="en-US" dirty="0" smtClean="0"/>
              <a:t>short-lived JWT, stored in memory (not localStorage)</a:t>
            </a:r>
            <a:endParaRPr lang="en-US" dirty="0"/>
          </a:p>
        </p:txBody>
      </p:sp>
      <p:sp>
        <p:nvSpPr>
          <p:cNvPr id="10" name="Object 10"/>
          <p:cNvSpPr txBox="1"/>
          <p:nvPr/>
        </p:nvSpPr>
        <p:spPr>
          <a:xfrm>
            <a:off x="457200" y="2480000"/>
            <a:ext cx="8229600" cy="28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dirty="0" smtClean="0"/>
              <a:t>Refresh Token:  </a:t>
            </a:r>
            <a:r>
              <a:rPr lang="en-US" dirty="0" smtClean="0"/>
              <a:t>long-lived JWT, stored in httpOnly cookie (safe from XSS)</a:t>
            </a:r>
            <a:endParaRPr lang="en-US" dirty="0"/>
          </a:p>
        </p:txBody>
      </p:sp>
      <p:sp>
        <p:nvSpPr>
          <p:cNvPr id="11" name="Object 11"/>
          <p:cNvSpPr txBox="1"/>
          <p:nvPr/>
        </p:nvSpPr>
        <p:spPr>
          <a:xfrm>
            <a:off x="640080" y="2820000"/>
            <a:ext cx="8046720" cy="26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•  apiFetch wrapper auto-retries with refresh token on 401/403</a:t>
            </a:r>
            <a:endParaRPr lang="en-US" sz="1300" dirty="0"/>
          </a:p>
        </p:txBody>
      </p:sp>
      <p:sp>
        <p:nvSpPr>
          <p:cNvPr id="12" name="Object 12"/>
          <p:cNvSpPr txBox="1"/>
          <p:nvPr/>
        </p:nvSpPr>
        <p:spPr>
          <a:xfrm>
            <a:off x="640080" y="3120000"/>
            <a:ext cx="8046720" cy="26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•  restoreSession() silently restores session on page reload</a:t>
            </a:r>
            <a:endParaRPr lang="en-US" sz="1300" dirty="0"/>
          </a:p>
        </p:txBody>
      </p:sp>
      <p:sp>
        <p:nvSpPr>
          <p:cNvPr id="13" name="Object 13"/>
          <p:cNvSpPr txBox="1"/>
          <p:nvPr/>
        </p:nvSpPr>
        <p:spPr>
          <a:xfrm>
            <a:off x="0" y="6377940"/>
            <a:ext cx="9144000" cy="80000"/>
          </a:xfrm>
          <a:prstGeom prst="rect">
            <a:avLst/>
          </a:prstGeom>
          <a:solidFill>
            <a:srgbClr val="5B4FCF"/>
          </a:solid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0"/>
            <a:ext cx="9144000" cy="80000"/>
          </a:xfrm>
          <a:prstGeom prst="rect">
            <a:avLst/>
          </a:prstGeom>
          <a:solidFill>
            <a:srgbClr val="5B4FCF"/>
          </a:solidFill>
        </p:spPr>
      </p:sp>
      <p:sp>
        <p:nvSpPr>
          <p:cNvPr id="3" name="Object 3"/>
          <p:cNvSpPr txBox="1"/>
          <p:nvPr/>
        </p:nvSpPr>
        <p:spPr>
          <a:xfrm>
            <a:off x="0" y="100000"/>
            <a:ext cx="9144000" cy="600000"/>
          </a:xfrm>
          <a:prstGeom prst="rect">
            <a:avLst/>
          </a:prstGeom>
          <a:solidFill>
            <a:srgbClr val="2A2545"/>
          </a:solidFill>
        </p:spPr>
      </p:sp>
      <p:sp>
        <p:nvSpPr>
          <p:cNvPr id="4" name="Object 4"/>
          <p:cNvSpPr txBox="1"/>
          <p:nvPr/>
        </p:nvSpPr>
        <p:spPr>
          <a:xfrm>
            <a:off x="365760" y="150000"/>
            <a:ext cx="8412480" cy="5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24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Translation Feature — RAG Pipeline</a:t>
            </a:r>
            <a:endParaRPr lang="en-US" sz="2400" dirty="0"/>
          </a:p>
        </p:txBody>
      </p:sp>
      <p:sp>
        <p:nvSpPr>
          <p:cNvPr id="5" name="Object 5"/>
          <p:cNvSpPr txBox="1"/>
          <p:nvPr/>
        </p:nvSpPr>
        <p:spPr>
          <a:xfrm>
            <a:off x="365760" y="900000"/>
            <a:ext cx="8412480" cy="28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500" b="1" dirty="0" smtClean="0">
                <a:solidFill>
                  <a:srgbClr val="E8E4FF"/>
                </a:solidFill>
                <a:latin typeface="Calibri" pitchFamily="34" charset="0"/>
                <a:cs typeface="Calibri" pitchFamily="34" charset="0"/>
              </a:rPr>
              <a:t>▸  What is RAG?  (Retrieval-Augmented Generation)</a:t>
            </a:r>
            <a:endParaRPr lang="en-US" sz="1500" dirty="0"/>
          </a:p>
        </p:txBody>
      </p:sp>
      <p:sp>
        <p:nvSpPr>
          <p:cNvPr id="6" name="Object 6"/>
          <p:cNvSpPr txBox="1"/>
          <p:nvPr/>
        </p:nvSpPr>
        <p:spPr>
          <a:xfrm>
            <a:off x="640080" y="1240000"/>
            <a:ext cx="8046720" cy="26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•  Don't rely on AI guessing — fetch real dictionary data first</a:t>
            </a:r>
            <a:endParaRPr lang="en-US" sz="1300" dirty="0"/>
          </a:p>
        </p:txBody>
      </p:sp>
      <p:sp>
        <p:nvSpPr>
          <p:cNvPr id="7" name="Object 7"/>
          <p:cNvSpPr txBox="1"/>
          <p:nvPr/>
        </p:nvSpPr>
        <p:spPr>
          <a:xfrm>
            <a:off x="365760" y="1540000"/>
            <a:ext cx="8412480" cy="28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500" b="1" dirty="0" smtClean="0">
                <a:solidFill>
                  <a:srgbClr val="E8E4FF"/>
                </a:solidFill>
                <a:latin typeface="Calibri" pitchFamily="34" charset="0"/>
                <a:cs typeface="Calibri" pitchFamily="34" charset="0"/>
              </a:rPr>
              <a:t>▸  The Pipeline</a:t>
            </a:r>
            <a:endParaRPr lang="en-US" sz="1500" dirty="0"/>
          </a:p>
        </p:txBody>
      </p:sp>
      <p:sp>
        <p:nvSpPr>
          <p:cNvPr id="8" name="Object 8"/>
          <p:cNvSpPr txBox="1"/>
          <p:nvPr/>
        </p:nvSpPr>
        <p:spPr>
          <a:xfrm>
            <a:off x="457200" y="1880000"/>
            <a:ext cx="8229600" cy="28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dirty="0" smtClean="0"/>
              <a:t>Step 1:  </a:t>
            </a:r>
            <a:r>
              <a:rPr lang="en-US" dirty="0" smtClean="0"/>
              <a:t>User input is cleaned and sent to backend</a:t>
            </a:r>
            <a:endParaRPr lang="en-US" dirty="0"/>
          </a:p>
        </p:txBody>
      </p:sp>
      <p:sp>
        <p:nvSpPr>
          <p:cNvPr id="9" name="Object 9"/>
          <p:cNvSpPr txBox="1"/>
          <p:nvPr/>
        </p:nvSpPr>
        <p:spPr>
          <a:xfrm>
            <a:off x="457200" y="2220000"/>
            <a:ext cx="8229600" cy="28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dirty="0" smtClean="0"/>
              <a:t>Step 2:  </a:t>
            </a:r>
            <a:r>
              <a:rPr lang="en-US" dirty="0" smtClean="0"/>
              <a:t>ragService searches Pinecone (vector DB) for dictionary matches</a:t>
            </a:r>
            <a:endParaRPr lang="en-US" dirty="0"/>
          </a:p>
        </p:txBody>
      </p:sp>
      <p:sp>
        <p:nvSpPr>
          <p:cNvPr id="10" name="Object 10"/>
          <p:cNvSpPr txBox="1"/>
          <p:nvPr/>
        </p:nvSpPr>
        <p:spPr>
          <a:xfrm>
            <a:off x="457200" y="2560000"/>
            <a:ext cx="8229600" cy="28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dirty="0" smtClean="0"/>
              <a:t>Step 3:  </a:t>
            </a:r>
            <a:r>
              <a:rPr lang="en-US" dirty="0" smtClean="0"/>
              <a:t>Matching Bhutia entries are passed as context to the LLM</a:t>
            </a:r>
            <a:endParaRPr lang="en-US" dirty="0"/>
          </a:p>
        </p:txBody>
      </p:sp>
      <p:sp>
        <p:nvSpPr>
          <p:cNvPr id="11" name="Object 11"/>
          <p:cNvSpPr txBox="1"/>
          <p:nvPr/>
        </p:nvSpPr>
        <p:spPr>
          <a:xfrm>
            <a:off x="457200" y="2900000"/>
            <a:ext cx="8229600" cy="28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dirty="0" smtClean="0"/>
              <a:t>Step 4:  </a:t>
            </a:r>
            <a:r>
              <a:rPr lang="en-US" dirty="0" smtClean="0"/>
              <a:t>LLM returns translation grounded in verified dictionary data</a:t>
            </a:r>
            <a:endParaRPr lang="en-US" dirty="0"/>
          </a:p>
        </p:txBody>
      </p:sp>
      <p:sp>
        <p:nvSpPr>
          <p:cNvPr id="12" name="Object 12"/>
          <p:cNvSpPr txBox="1"/>
          <p:nvPr/>
        </p:nvSpPr>
        <p:spPr>
          <a:xfrm>
            <a:off x="457200" y="3240000"/>
            <a:ext cx="8229600" cy="28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dirty="0" smtClean="0"/>
              <a:t>Step 5:  </a:t>
            </a:r>
            <a:r>
              <a:rPr lang="en-US" dirty="0" smtClean="0"/>
              <a:t>Result is returned to frontend and saved to History in MongoDB</a:t>
            </a:r>
            <a:endParaRPr lang="en-US" dirty="0"/>
          </a:p>
        </p:txBody>
      </p:sp>
      <p:sp>
        <p:nvSpPr>
          <p:cNvPr id="13" name="Object 13"/>
          <p:cNvSpPr txBox="1"/>
          <p:nvPr/>
        </p:nvSpPr>
        <p:spPr>
          <a:xfrm>
            <a:off x="0" y="6377940"/>
            <a:ext cx="9144000" cy="80000"/>
          </a:xfrm>
          <a:prstGeom prst="rect">
            <a:avLst/>
          </a:prstGeom>
          <a:solidFill>
            <a:srgbClr val="5B4FCF"/>
          </a:solid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0"/>
            <a:ext cx="9144000" cy="80000"/>
          </a:xfrm>
          <a:prstGeom prst="rect">
            <a:avLst/>
          </a:prstGeom>
          <a:solidFill>
            <a:srgbClr val="5B4FCF"/>
          </a:solidFill>
        </p:spPr>
      </p:sp>
      <p:sp>
        <p:nvSpPr>
          <p:cNvPr id="3" name="Object 3"/>
          <p:cNvSpPr txBox="1"/>
          <p:nvPr/>
        </p:nvSpPr>
        <p:spPr>
          <a:xfrm>
            <a:off x="0" y="100000"/>
            <a:ext cx="9144000" cy="600000"/>
          </a:xfrm>
          <a:prstGeom prst="rect">
            <a:avLst/>
          </a:prstGeom>
          <a:solidFill>
            <a:srgbClr val="2A2545"/>
          </a:solidFill>
        </p:spPr>
      </p:sp>
      <p:sp>
        <p:nvSpPr>
          <p:cNvPr id="4" name="Object 4"/>
          <p:cNvSpPr txBox="1"/>
          <p:nvPr/>
        </p:nvSpPr>
        <p:spPr>
          <a:xfrm>
            <a:off x="365760" y="150000"/>
            <a:ext cx="8412480" cy="5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24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Frontend Features</a:t>
            </a:r>
            <a:endParaRPr lang="en-US" sz="2400" dirty="0"/>
          </a:p>
        </p:txBody>
      </p:sp>
      <p:sp>
        <p:nvSpPr>
          <p:cNvPr id="5" name="Object 5"/>
          <p:cNvSpPr txBox="1"/>
          <p:nvPr/>
        </p:nvSpPr>
        <p:spPr>
          <a:xfrm>
            <a:off x="365760" y="900000"/>
            <a:ext cx="8412480" cy="28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500" b="1" dirty="0" smtClean="0">
                <a:solidFill>
                  <a:srgbClr val="E8E4FF"/>
                </a:solidFill>
                <a:latin typeface="Calibri" pitchFamily="34" charset="0"/>
                <a:cs typeface="Calibri" pitchFamily="34" charset="0"/>
              </a:rPr>
              <a:t>▸  Main Interface</a:t>
            </a:r>
            <a:endParaRPr lang="en-US" sz="1500" dirty="0"/>
          </a:p>
        </p:txBody>
      </p:sp>
      <p:sp>
        <p:nvSpPr>
          <p:cNvPr id="6" name="Object 6"/>
          <p:cNvSpPr txBox="1"/>
          <p:nvPr/>
        </p:nvSpPr>
        <p:spPr>
          <a:xfrm>
            <a:off x="640080" y="1240000"/>
            <a:ext cx="8046720" cy="26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•  SearchBox — text input with send button and voice mic</a:t>
            </a:r>
            <a:endParaRPr lang="en-US" sz="1300" dirty="0"/>
          </a:p>
        </p:txBody>
      </p:sp>
      <p:sp>
        <p:nvSpPr>
          <p:cNvPr id="7" name="Object 7"/>
          <p:cNvSpPr txBox="1"/>
          <p:nvPr/>
        </p:nvSpPr>
        <p:spPr>
          <a:xfrm>
            <a:off x="640080" y="1540000"/>
            <a:ext cx="8046720" cy="26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•  Voice Input via Web Speech API — browser-native, no library needed</a:t>
            </a:r>
            <a:endParaRPr lang="en-US" sz="1300" dirty="0"/>
          </a:p>
        </p:txBody>
      </p:sp>
      <p:sp>
        <p:nvSpPr>
          <p:cNvPr id="8" name="Object 8"/>
          <p:cNvSpPr txBox="1"/>
          <p:nvPr/>
        </p:nvSpPr>
        <p:spPr>
          <a:xfrm>
            <a:off x="640080" y="1840000"/>
            <a:ext cx="8046720" cy="26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•  File attachment button for image/PDF upload</a:t>
            </a:r>
            <a:endParaRPr lang="en-US" sz="1300" dirty="0"/>
          </a:p>
        </p:txBody>
      </p:sp>
      <p:sp>
        <p:nvSpPr>
          <p:cNvPr id="9" name="Object 9"/>
          <p:cNvSpPr txBox="1"/>
          <p:nvPr/>
        </p:nvSpPr>
        <p:spPr>
          <a:xfrm>
            <a:off x="365760" y="2140000"/>
            <a:ext cx="8412480" cy="28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500" b="1" dirty="0" smtClean="0">
                <a:solidFill>
                  <a:srgbClr val="E8E4FF"/>
                </a:solidFill>
                <a:latin typeface="Calibri" pitchFamily="34" charset="0"/>
                <a:cs typeface="Calibri" pitchFamily="34" charset="0"/>
              </a:rPr>
              <a:t>▸  Sidebar</a:t>
            </a:r>
            <a:endParaRPr lang="en-US" sz="1500" dirty="0"/>
          </a:p>
        </p:txBody>
      </p:sp>
      <p:sp>
        <p:nvSpPr>
          <p:cNvPr id="10" name="Object 10"/>
          <p:cNvSpPr txBox="1"/>
          <p:nvPr/>
        </p:nvSpPr>
        <p:spPr>
          <a:xfrm>
            <a:off x="640080" y="2480000"/>
            <a:ext cx="8046720" cy="26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•  Chat history with pin and delete per session</a:t>
            </a:r>
            <a:endParaRPr lang="en-US" sz="1300" dirty="0"/>
          </a:p>
        </p:txBody>
      </p:sp>
      <p:sp>
        <p:nvSpPr>
          <p:cNvPr id="11" name="Object 11"/>
          <p:cNvSpPr txBox="1"/>
          <p:nvPr/>
        </p:nvSpPr>
        <p:spPr>
          <a:xfrm>
            <a:off x="640080" y="2780000"/>
            <a:ext cx="8046720" cy="26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•  Collapsible — icon-only when closed, full when open</a:t>
            </a:r>
            <a:endParaRPr lang="en-US" sz="1300" dirty="0"/>
          </a:p>
        </p:txBody>
      </p:sp>
      <p:sp>
        <p:nvSpPr>
          <p:cNvPr id="12" name="Object 12"/>
          <p:cNvSpPr txBox="1"/>
          <p:nvPr/>
        </p:nvSpPr>
        <p:spPr>
          <a:xfrm>
            <a:off x="640080" y="3080000"/>
            <a:ext cx="8046720" cy="26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•  Login prompt for unauthenticated users</a:t>
            </a:r>
            <a:endParaRPr lang="en-US" sz="1300" dirty="0"/>
          </a:p>
        </p:txBody>
      </p:sp>
      <p:sp>
        <p:nvSpPr>
          <p:cNvPr id="13" name="Object 13"/>
          <p:cNvSpPr txBox="1"/>
          <p:nvPr/>
        </p:nvSpPr>
        <p:spPr>
          <a:xfrm>
            <a:off x="640080" y="3380000"/>
            <a:ext cx="8046720" cy="26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•  Suggestions chips — example phrases for quick start</a:t>
            </a:r>
            <a:endParaRPr lang="en-US" sz="1300" dirty="0"/>
          </a:p>
        </p:txBody>
      </p:sp>
      <p:sp>
        <p:nvSpPr>
          <p:cNvPr id="14" name="Object 14"/>
          <p:cNvSpPr txBox="1"/>
          <p:nvPr/>
        </p:nvSpPr>
        <p:spPr>
          <a:xfrm>
            <a:off x="0" y="6377940"/>
            <a:ext cx="9144000" cy="80000"/>
          </a:xfrm>
          <a:prstGeom prst="rect">
            <a:avLst/>
          </a:prstGeom>
          <a:solidFill>
            <a:srgbClr val="5B4FCF"/>
          </a:solid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0"/>
            <a:ext cx="9144000" cy="80000"/>
          </a:xfrm>
          <a:prstGeom prst="rect">
            <a:avLst/>
          </a:prstGeom>
          <a:solidFill>
            <a:srgbClr val="5B4FCF"/>
          </a:solidFill>
        </p:spPr>
      </p:sp>
      <p:sp>
        <p:nvSpPr>
          <p:cNvPr id="3" name="Object 3"/>
          <p:cNvSpPr txBox="1"/>
          <p:nvPr/>
        </p:nvSpPr>
        <p:spPr>
          <a:xfrm>
            <a:off x="0" y="100000"/>
            <a:ext cx="9144000" cy="600000"/>
          </a:xfrm>
          <a:prstGeom prst="rect">
            <a:avLst/>
          </a:prstGeom>
          <a:solidFill>
            <a:srgbClr val="2A2545"/>
          </a:solidFill>
        </p:spPr>
      </p:sp>
      <p:sp>
        <p:nvSpPr>
          <p:cNvPr id="4" name="Object 4"/>
          <p:cNvSpPr txBox="1"/>
          <p:nvPr/>
        </p:nvSpPr>
        <p:spPr>
          <a:xfrm>
            <a:off x="365760" y="150000"/>
            <a:ext cx="8412480" cy="5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24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Deployment</a:t>
            </a:r>
            <a:endParaRPr lang="en-US" sz="2400" dirty="0"/>
          </a:p>
        </p:txBody>
      </p:sp>
      <p:sp>
        <p:nvSpPr>
          <p:cNvPr id="5" name="Object 5"/>
          <p:cNvSpPr txBox="1"/>
          <p:nvPr/>
        </p:nvSpPr>
        <p:spPr>
          <a:xfrm>
            <a:off x="365760" y="900000"/>
            <a:ext cx="8412480" cy="28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500" b="1" dirty="0" smtClean="0">
                <a:solidFill>
                  <a:srgbClr val="E8E4FF"/>
                </a:solidFill>
                <a:latin typeface="Calibri" pitchFamily="34" charset="0"/>
                <a:cs typeface="Calibri" pitchFamily="34" charset="0"/>
              </a:rPr>
              <a:t>▸  Containerisation</a:t>
            </a:r>
            <a:endParaRPr lang="en-US" sz="1500" dirty="0"/>
          </a:p>
        </p:txBody>
      </p:sp>
      <p:sp>
        <p:nvSpPr>
          <p:cNvPr id="6" name="Object 6"/>
          <p:cNvSpPr txBox="1"/>
          <p:nvPr/>
        </p:nvSpPr>
        <p:spPr>
          <a:xfrm>
            <a:off x="457200" y="1240000"/>
            <a:ext cx="8229600" cy="28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dirty="0" smtClean="0"/>
              <a:t>Docker:  </a:t>
            </a:r>
            <a:r>
              <a:rPr lang="en-US" dirty="0" smtClean="0"/>
              <a:t>separate Dockerfiles for frontend and backend</a:t>
            </a:r>
            <a:endParaRPr lang="en-US" dirty="0"/>
          </a:p>
        </p:txBody>
      </p:sp>
      <p:sp>
        <p:nvSpPr>
          <p:cNvPr id="7" name="Object 7"/>
          <p:cNvSpPr txBox="1"/>
          <p:nvPr/>
        </p:nvSpPr>
        <p:spPr>
          <a:xfrm>
            <a:off x="457200" y="1580000"/>
            <a:ext cx="8229600" cy="28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dirty="0" smtClean="0"/>
              <a:t>Compose:  </a:t>
            </a:r>
            <a:r>
              <a:rPr lang="en-US" dirty="0" smtClean="0"/>
              <a:t>docker-compose.yml orchestrates both services locally</a:t>
            </a:r>
            <a:endParaRPr lang="en-US" dirty="0"/>
          </a:p>
        </p:txBody>
      </p:sp>
      <p:sp>
        <p:nvSpPr>
          <p:cNvPr id="8" name="Object 8"/>
          <p:cNvSpPr txBox="1"/>
          <p:nvPr/>
        </p:nvSpPr>
        <p:spPr>
          <a:xfrm>
            <a:off x="365760" y="1920000"/>
            <a:ext cx="8412480" cy="28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500" b="1" dirty="0" smtClean="0">
                <a:solidFill>
                  <a:srgbClr val="E8E4FF"/>
                </a:solidFill>
                <a:latin typeface="Calibri" pitchFamily="34" charset="0"/>
                <a:cs typeface="Calibri" pitchFamily="34" charset="0"/>
              </a:rPr>
              <a:t>▸  CI/CD Pipeline — GitHub Actions</a:t>
            </a:r>
            <a:endParaRPr lang="en-US" sz="1500" dirty="0"/>
          </a:p>
        </p:txBody>
      </p:sp>
      <p:sp>
        <p:nvSpPr>
          <p:cNvPr id="9" name="Object 9"/>
          <p:cNvSpPr txBox="1"/>
          <p:nvPr/>
        </p:nvSpPr>
        <p:spPr>
          <a:xfrm>
            <a:off x="640080" y="2260000"/>
            <a:ext cx="8046720" cy="26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•  Runs on every push to main branch</a:t>
            </a:r>
            <a:endParaRPr lang="en-US" sz="1300" dirty="0"/>
          </a:p>
        </p:txBody>
      </p:sp>
      <p:sp>
        <p:nvSpPr>
          <p:cNvPr id="10" name="Object 10"/>
          <p:cNvSpPr txBox="1"/>
          <p:nvPr/>
        </p:nvSpPr>
        <p:spPr>
          <a:xfrm>
            <a:off x="640080" y="2560000"/>
            <a:ext cx="8046720" cy="26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•  Builds and pushes Docker images automatically</a:t>
            </a:r>
            <a:endParaRPr lang="en-US" sz="1300" dirty="0"/>
          </a:p>
        </p:txBody>
      </p:sp>
      <p:sp>
        <p:nvSpPr>
          <p:cNvPr id="11" name="Object 11"/>
          <p:cNvSpPr txBox="1"/>
          <p:nvPr/>
        </p:nvSpPr>
        <p:spPr>
          <a:xfrm>
            <a:off x="640080" y="2860000"/>
            <a:ext cx="8046720" cy="26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•  Deploys to production server on success</a:t>
            </a:r>
            <a:endParaRPr lang="en-US" sz="1300" dirty="0"/>
          </a:p>
        </p:txBody>
      </p:sp>
      <p:sp>
        <p:nvSpPr>
          <p:cNvPr id="12" name="Object 12"/>
          <p:cNvSpPr txBox="1"/>
          <p:nvPr/>
        </p:nvSpPr>
        <p:spPr>
          <a:xfrm>
            <a:off x="365760" y="3160000"/>
            <a:ext cx="8412480" cy="28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500" b="1" dirty="0" smtClean="0">
                <a:solidFill>
                  <a:srgbClr val="E8E4FF"/>
                </a:solidFill>
                <a:latin typeface="Calibri" pitchFamily="34" charset="0"/>
                <a:cs typeface="Calibri" pitchFamily="34" charset="0"/>
              </a:rPr>
              <a:t>▸  Web Server</a:t>
            </a:r>
            <a:endParaRPr lang="en-US" sz="1500" dirty="0"/>
          </a:p>
        </p:txBody>
      </p:sp>
      <p:sp>
        <p:nvSpPr>
          <p:cNvPr id="13" name="Object 13"/>
          <p:cNvSpPr txBox="1"/>
          <p:nvPr/>
        </p:nvSpPr>
        <p:spPr>
          <a:xfrm>
            <a:off x="457200" y="3500000"/>
            <a:ext cx="8229600" cy="28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dirty="0" smtClean="0"/>
              <a:t>Nginx:  </a:t>
            </a:r>
            <a:r>
              <a:rPr lang="en-US" dirty="0" smtClean="0"/>
              <a:t>reverse proxy routing frontend and backend traffic</a:t>
            </a:r>
            <a:endParaRPr lang="en-US" dirty="0"/>
          </a:p>
        </p:txBody>
      </p:sp>
      <p:sp>
        <p:nvSpPr>
          <p:cNvPr id="14" name="Object 14"/>
          <p:cNvSpPr txBox="1"/>
          <p:nvPr/>
        </p:nvSpPr>
        <p:spPr>
          <a:xfrm>
            <a:off x="0" y="6377940"/>
            <a:ext cx="9144000" cy="80000"/>
          </a:xfrm>
          <a:prstGeom prst="rect">
            <a:avLst/>
          </a:prstGeom>
          <a:solidFill>
            <a:srgbClr val="5B4FCF"/>
          </a:solid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0"/>
            <a:ext cx="9144000" cy="80000"/>
          </a:xfrm>
          <a:prstGeom prst="rect">
            <a:avLst/>
          </a:prstGeom>
          <a:solidFill>
            <a:srgbClr val="5B4FCF"/>
          </a:solidFill>
        </p:spPr>
      </p:sp>
      <p:sp>
        <p:nvSpPr>
          <p:cNvPr id="3" name="Object 3"/>
          <p:cNvSpPr txBox="1"/>
          <p:nvPr/>
        </p:nvSpPr>
        <p:spPr>
          <a:xfrm>
            <a:off x="0" y="100000"/>
            <a:ext cx="9144000" cy="600000"/>
          </a:xfrm>
          <a:prstGeom prst="rect">
            <a:avLst/>
          </a:prstGeom>
          <a:solidFill>
            <a:srgbClr val="2A2545"/>
          </a:solidFill>
        </p:spPr>
      </p:sp>
      <p:sp>
        <p:nvSpPr>
          <p:cNvPr id="4" name="Object 4"/>
          <p:cNvSpPr txBox="1"/>
          <p:nvPr/>
        </p:nvSpPr>
        <p:spPr>
          <a:xfrm>
            <a:off x="365760" y="150000"/>
            <a:ext cx="8412480" cy="5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24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What I Learned</a:t>
            </a:r>
            <a:endParaRPr lang="en-US" sz="2400" dirty="0"/>
          </a:p>
        </p:txBody>
      </p:sp>
      <p:sp>
        <p:nvSpPr>
          <p:cNvPr id="5" name="Object 5"/>
          <p:cNvSpPr txBox="1"/>
          <p:nvPr/>
        </p:nvSpPr>
        <p:spPr>
          <a:xfrm>
            <a:off x="365760" y="900000"/>
            <a:ext cx="8412480" cy="28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500" b="1" dirty="0" smtClean="0">
                <a:solidFill>
                  <a:srgbClr val="E8E4FF"/>
                </a:solidFill>
                <a:latin typeface="Calibri" pitchFamily="34" charset="0"/>
                <a:cs typeface="Calibri" pitchFamily="34" charset="0"/>
              </a:rPr>
              <a:t>▸  Full Stack Development</a:t>
            </a:r>
            <a:endParaRPr lang="en-US" sz="1500" dirty="0"/>
          </a:p>
        </p:txBody>
      </p:sp>
      <p:sp>
        <p:nvSpPr>
          <p:cNvPr id="6" name="Object 6"/>
          <p:cNvSpPr txBox="1"/>
          <p:nvPr/>
        </p:nvSpPr>
        <p:spPr>
          <a:xfrm>
            <a:off x="640080" y="1240000"/>
            <a:ext cx="8046720" cy="26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•  Building a complete MERN stack project from scratch</a:t>
            </a:r>
            <a:endParaRPr lang="en-US" sz="1300" dirty="0"/>
          </a:p>
        </p:txBody>
      </p:sp>
      <p:sp>
        <p:nvSpPr>
          <p:cNvPr id="7" name="Object 7"/>
          <p:cNvSpPr txBox="1"/>
          <p:nvPr/>
        </p:nvSpPr>
        <p:spPr>
          <a:xfrm>
            <a:off x="640080" y="1540000"/>
            <a:ext cx="8046720" cy="26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•  Connecting React frontend to Express/MongoDB backend end-to-end</a:t>
            </a:r>
            <a:endParaRPr lang="en-US" sz="1300" dirty="0"/>
          </a:p>
        </p:txBody>
      </p:sp>
      <p:sp>
        <p:nvSpPr>
          <p:cNvPr id="8" name="Object 8"/>
          <p:cNvSpPr txBox="1"/>
          <p:nvPr/>
        </p:nvSpPr>
        <p:spPr>
          <a:xfrm>
            <a:off x="365760" y="1840000"/>
            <a:ext cx="8412480" cy="28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500" b="1" dirty="0" smtClean="0">
                <a:solidFill>
                  <a:srgbClr val="E8E4FF"/>
                </a:solidFill>
                <a:latin typeface="Calibri" pitchFamily="34" charset="0"/>
                <a:cs typeface="Calibri" pitchFamily="34" charset="0"/>
              </a:rPr>
              <a:t>▸  Authentication &amp; Security</a:t>
            </a:r>
            <a:endParaRPr lang="en-US" sz="1500" dirty="0"/>
          </a:p>
        </p:txBody>
      </p:sp>
      <p:sp>
        <p:nvSpPr>
          <p:cNvPr id="9" name="Object 9"/>
          <p:cNvSpPr txBox="1"/>
          <p:nvPr/>
        </p:nvSpPr>
        <p:spPr>
          <a:xfrm>
            <a:off x="640080" y="2180000"/>
            <a:ext cx="8046720" cy="26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•  JWT access + refresh token flow, httpOnly cookies, bcrypt hashing</a:t>
            </a:r>
            <a:endParaRPr lang="en-US" sz="1300" dirty="0"/>
          </a:p>
        </p:txBody>
      </p:sp>
      <p:sp>
        <p:nvSpPr>
          <p:cNvPr id="10" name="Object 10"/>
          <p:cNvSpPr txBox="1"/>
          <p:nvPr/>
        </p:nvSpPr>
        <p:spPr>
          <a:xfrm>
            <a:off x="365760" y="2480000"/>
            <a:ext cx="8412480" cy="28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500" b="1" dirty="0" smtClean="0">
                <a:solidFill>
                  <a:srgbClr val="E8E4FF"/>
                </a:solidFill>
                <a:latin typeface="Calibri" pitchFamily="34" charset="0"/>
                <a:cs typeface="Calibri" pitchFamily="34" charset="0"/>
              </a:rPr>
              <a:t>▸  AI &amp; RAG Pipeline</a:t>
            </a:r>
            <a:endParaRPr lang="en-US" sz="1500" dirty="0"/>
          </a:p>
        </p:txBody>
      </p:sp>
      <p:sp>
        <p:nvSpPr>
          <p:cNvPr id="11" name="Object 11"/>
          <p:cNvSpPr txBox="1"/>
          <p:nvPr/>
        </p:nvSpPr>
        <p:spPr>
          <a:xfrm>
            <a:off x="640080" y="2820000"/>
            <a:ext cx="8046720" cy="26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•  How to ground LLM output in real data using vector search (Pinecone)</a:t>
            </a:r>
            <a:endParaRPr lang="en-US" sz="1300" dirty="0"/>
          </a:p>
        </p:txBody>
      </p:sp>
      <p:sp>
        <p:nvSpPr>
          <p:cNvPr id="12" name="Object 12"/>
          <p:cNvSpPr txBox="1"/>
          <p:nvPr/>
        </p:nvSpPr>
        <p:spPr>
          <a:xfrm>
            <a:off x="365760" y="3120000"/>
            <a:ext cx="8412480" cy="28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500" b="1" dirty="0" smtClean="0">
                <a:solidFill>
                  <a:srgbClr val="E8E4FF"/>
                </a:solidFill>
                <a:latin typeface="Calibri" pitchFamily="34" charset="0"/>
                <a:cs typeface="Calibri" pitchFamily="34" charset="0"/>
              </a:rPr>
              <a:t>▸  DevOps Basics</a:t>
            </a:r>
            <a:endParaRPr lang="en-US" sz="1500" dirty="0"/>
          </a:p>
        </p:txBody>
      </p:sp>
      <p:sp>
        <p:nvSpPr>
          <p:cNvPr id="13" name="Object 13"/>
          <p:cNvSpPr txBox="1"/>
          <p:nvPr/>
        </p:nvSpPr>
        <p:spPr>
          <a:xfrm>
            <a:off x="640080" y="3460000"/>
            <a:ext cx="8046720" cy="26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•  Docker, GitHub Actions CI/CD, Nginx reverse proxy</a:t>
            </a:r>
            <a:endParaRPr lang="en-US" sz="1300" dirty="0"/>
          </a:p>
        </p:txBody>
      </p:sp>
      <p:sp>
        <p:nvSpPr>
          <p:cNvPr id="14" name="Object 14"/>
          <p:cNvSpPr txBox="1"/>
          <p:nvPr/>
        </p:nvSpPr>
        <p:spPr>
          <a:xfrm>
            <a:off x="640080" y="3760000"/>
            <a:ext cx="8046720" cy="26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•  Real-world practices — Redux state management, Joi validation, Git branching</a:t>
            </a:r>
            <a:endParaRPr lang="en-US" sz="1300" dirty="0"/>
          </a:p>
        </p:txBody>
      </p:sp>
      <p:sp>
        <p:nvSpPr>
          <p:cNvPr id="15" name="Object 15"/>
          <p:cNvSpPr txBox="1"/>
          <p:nvPr/>
        </p:nvSpPr>
        <p:spPr>
          <a:xfrm>
            <a:off x="0" y="6377940"/>
            <a:ext cx="9144000" cy="80000"/>
          </a:xfrm>
          <a:prstGeom prst="rect">
            <a:avLst/>
          </a:prstGeom>
          <a:solidFill>
            <a:srgbClr val="5B4FCF"/>
          </a:solid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0"/>
            <a:ext cx="9144000" cy="80000"/>
          </a:xfrm>
          <a:prstGeom prst="rect">
            <a:avLst/>
          </a:prstGeom>
          <a:solidFill>
            <a:srgbClr val="5B4FCF"/>
          </a:solidFill>
        </p:spPr>
      </p:sp>
      <p:sp>
        <p:nvSpPr>
          <p:cNvPr id="3" name="Object 3"/>
          <p:cNvSpPr txBox="1"/>
          <p:nvPr/>
        </p:nvSpPr>
        <p:spPr>
          <a:xfrm>
            <a:off x="0" y="6377940"/>
            <a:ext cx="9144000" cy="80000"/>
          </a:xfrm>
          <a:prstGeom prst="rect">
            <a:avLst/>
          </a:prstGeom>
          <a:solidFill>
            <a:srgbClr val="5B4FCF"/>
          </a:solidFill>
        </p:spPr>
      </p:sp>
      <p:sp>
        <p:nvSpPr>
          <p:cNvPr id="4" name="Object 4"/>
          <p:cNvSpPr txBox="1"/>
          <p:nvPr/>
        </p:nvSpPr>
        <p:spPr>
          <a:xfrm>
            <a:off x="914400" y="2057400"/>
            <a:ext cx="7315200" cy="7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44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Thank You</a:t>
            </a:r>
            <a:endParaRPr lang="en-US" sz="4400" dirty="0"/>
          </a:p>
        </p:txBody>
      </p:sp>
      <p:sp>
        <p:nvSpPr>
          <p:cNvPr id="5" name="Object 5"/>
          <p:cNvSpPr txBox="1"/>
          <p:nvPr/>
        </p:nvSpPr>
        <p:spPr>
          <a:xfrm>
            <a:off x="914400" y="3429000"/>
            <a:ext cx="7315200" cy="5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2600" dirty="0" smtClean="0">
                <a:solidFill>
                  <a:srgbClr val="E8E4FF"/>
                </a:solidFill>
                <a:latin typeface="Calibri" pitchFamily="34" charset="0"/>
                <a:cs typeface="Calibri" pitchFamily="34" charset="0"/>
              </a:rPr>
              <a:t>Questions?</a:t>
            </a:r>
            <a:endParaRPr lang="en-US" sz="2600" dirty="0"/>
          </a:p>
        </p:txBody>
      </p:sp>
      <p:sp>
        <p:nvSpPr>
          <p:cNvPr id="6" name="Object 6"/>
          <p:cNvSpPr txBox="1"/>
          <p:nvPr/>
        </p:nvSpPr>
        <p:spPr>
          <a:xfrm>
            <a:off x="914400" y="4663440"/>
            <a:ext cx="7315200" cy="3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400" dirty="0" smtClean="0">
                <a:solidFill>
                  <a:srgbClr val="A09CB8"/>
                </a:solidFill>
                <a:latin typeface="Calibri" pitchFamily="34" charset="0"/>
                <a:cs typeface="Calibri" pitchFamily="34" charset="0"/>
              </a:rPr>
              <a:t>Himalingo  •  SpacedRevision  •  Full Stack Developer Intern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officegen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officegen</dc:creator>
  <cp:lastModifiedBy>officegen</cp:lastModifiedBy>
  <cp:revision>1</cp:revision>
  <dcterms:created xsi:type="dcterms:W3CDTF">2026-07-11T01:42:09Z</dcterms:created>
  <dcterms:modified xsi:type="dcterms:W3CDTF">2026-07-11T01:42:09Z</dcterms:modified>
</cp:coreProperties>
</file>